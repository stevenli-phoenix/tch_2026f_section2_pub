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20 seconds. The question: what drives the mood of a social media post, and what drives its reach? Dataset is the Kaggle Social Media Sentiments Analysis set: 732 posts, each with text, a sentiment label, timestamp, platform, hashtags, Likes, Retweets and country. I’ll go through cleaning, sentiment, time, engagement, hashtags and geography, then the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Cleaning: dropped two leftover index columns and stripped extra whitespace, which collapsed 279 sentiment labels into 191. No missing values; 22 duplicate rows, kept but noted. The data is skewed: 83% of posts come from five countries (USA, UK, Canada, Australia, India) and 39% from 2023. Platforms are balanced: Instagram 258, Twitter 243, Facebook 231. Key point: Retweets are almost a copy of Likes, correlation 0.998, and exactly half of Likes for 59% of posts. So from here on, engagement means Likes.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191 labels are too many to compare, so I mapped each one by hand into four groups. The result is heavily positive: 65% Positive, 27% Negative, 5% Neutral, 4% Mixed. That imbalance matters for any classifier later. And the emotional landscape does not depend on the platform — Facebook, Instagram and Twitter all sit at 64–65%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 timestamp has no time zone, so I tested it. If it were UTC, countries ten hours apart would post at very different recorded hours. They don’t: USA averages 15.6, India 13.4, and in all five top countries the middle half of posts sits between roughly 9 and 19. So it’s local time and we can read the hour as time of day. People post in the afternoon and evening, but the mood barely moves with time of day. The only odd months are September and October 2023, which look like one batch of posts rather than a seasonal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Engagement is measured with Likes only. Positive posts average 46.1 Likes, Negative ones 35.9 — about a 10-Like gap, the biggest effect in the data. Instagram gets slightly more Likes, and evening posts beat morning ones, 46.6 vs 39.2. There are 670 users for 732 posts and nobody posts more than three times, so there are no influencers. Correlations are all weak, so no single feature explains Likes.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 this is the slide to slow down on. The most common hashtags are just the sentiment labels: #serenity, #gratitude, #excitement. For 71% of posts the first hashtag equals the label, and every top-15 hashtag is 100% one sentiment group. If we fed hashtags into a sentiment model it would look great and learn nothing — that’s data leakage. Hashtags must be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Unlike platform, country does shift the mood: USA is 70% Positive, while India is 59% and Australia 60%, with about a third of their posts Negative. Smaller countries grouped as Other actually get more Likes, around 51 vs 38–44. There are also hints of platform-by-country interaction — in Canada, Facebook is 86% Positive but Instagram only 42% — but each cell has only 19 to 72 posts, so treat that as a hint, not a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To sum up: mood is overwhelmingly positive and doesn’t depend on platform or time of day, but it does vary by country. Positive posts earn about 10 more Likes. Timestamps are local time, and September and October 2023 look like batch artifacts. For a model: exclude hashtags because they leak the label, handle the class imbalance, use Likes as the single engagement target, and expect weak individual signals.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58800"/>
          </a:xfrm>
          <a:prstGeom prst="rect">
            <a:avLst/>
          </a:prstGeom>
          <a:noFill/>
          <a:ln/>
        </p:spPr>
        <p:txBody>
          <a:bodyPr wrap="square" lIns="0" tIns="0" rIns="0" bIns="0" rtlCol="0" anchor="t"/>
          <a:lstStyle>
            <a:lvl1pPr algn="l" indent="0" marL="0">
              <a:lnSpc>
                <a:spcPct val="115000"/>
              </a:lnSpc>
              <a:buNone/>
              <a:defRPr lang="en-US" sz="4400" dirty="0">
                <a:solidFill>
                  <a:srgbClr val="57068C"/>
                </a:solidFill>
                <a:latin typeface="Frank Ruhl Libre" pitchFamily="34" charset="0"/>
                <a:ea typeface="Frank Ruhl Libre" pitchFamily="34" charset="-122"/>
                <a:cs typeface="Frank Ruhl Libre"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1991320"/>
            <a:ext cx="10566400" cy="4053880"/>
          </a:xfrm>
          <a:prstGeom prst="rect">
            <a:avLst/>
          </a:prstGeom>
          <a:noFill/>
          <a:ln/>
        </p:spPr>
        <p:txBody>
          <a:bodyPr wrap="square" lIns="0" tIns="0" rIns="0" bIns="0" rtlCol="0" anchor="t"/>
          <a:lstStyle>
            <a:lvl1pPr algn="l" indent="0" marL="0">
              <a:lnSpc>
                <a:spcPct val="140000"/>
              </a:lnSpc>
              <a:buNone/>
              <a:defRPr lang="en-US" sz="1600" dirty="0">
                <a:solidFill>
                  <a:srgbClr val="57068C"/>
                </a:solidFill>
                <a:latin typeface="Montserrat" pitchFamily="34" charset="0"/>
                <a:ea typeface="Montserrat" pitchFamily="34" charset="-122"/>
                <a:cs typeface="Montserrat"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58800"/>
          </a:xfrm>
          <a:prstGeom prst="rect">
            <a:avLst/>
          </a:prstGeom>
          <a:noFill/>
          <a:ln/>
        </p:spPr>
        <p:txBody>
          <a:bodyPr wrap="square" lIns="0" tIns="0" rIns="0" bIns="0" rtlCol="0" anchor="t"/>
          <a:lstStyle>
            <a:lvl1pPr algn="l" indent="0" marL="0">
              <a:lnSpc>
                <a:spcPct val="115000"/>
              </a:lnSpc>
              <a:buNone/>
              <a:defRPr lang="en-US" sz="4400" dirty="0">
                <a:solidFill>
                  <a:srgbClr val="57068C"/>
                </a:solidFill>
                <a:latin typeface="Frank Ruhl Libre" pitchFamily="34" charset="0"/>
                <a:ea typeface="Frank Ruhl Libre" pitchFamily="34" charset="-122"/>
                <a:cs typeface="Frank Ruhl Libre"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1991320"/>
            <a:ext cx="10566400" cy="4053880"/>
          </a:xfrm>
          <a:prstGeom prst="rect">
            <a:avLst/>
          </a:prstGeom>
          <a:noFill/>
          <a:ln/>
        </p:spPr>
        <p:txBody>
          <a:bodyPr wrap="square" lIns="0" tIns="0" rIns="0" bIns="0" rtlCol="0" anchor="t"/>
          <a:lstStyle>
            <a:lvl1pPr algn="l" indent="0" marL="0">
              <a:lnSpc>
                <a:spcPct val="140000"/>
              </a:lnSpc>
              <a:buNone/>
              <a:defRPr lang="en-US" sz="1600" dirty="0">
                <a:solidFill>
                  <a:srgbClr val="57068C"/>
                </a:solidFill>
                <a:latin typeface="Montserrat" pitchFamily="34" charset="0"/>
                <a:ea typeface="Montserrat" pitchFamily="34" charset="-122"/>
                <a:cs typeface="Montserrat"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2"/>
        </a:solidFill>
      </p:bgPr>
    </p:bg>
    <p:spTree>
      <p:nvGrpSpPr>
        <p:cNvPr id="1" name=""/>
        <p:cNvGrpSpPr/>
        <p:nvPr/>
      </p:nvGrpSpPr>
      <p:grpSpPr>
        <a:xfrm>
          <a:off x="0" y="0"/>
          <a:ext cx="0" cy="0"/>
          <a:chOff x="0" y="0"/>
          <a:chExt cx="0" cy="0"/>
        </a:xfrm>
      </p:grpSpPr>
      <p:pic>
        <p:nvPicPr>
          <p:cNvPr id="2" name="Image 0" descr="NYU">    </p:cNvPr>
          <p:cNvPicPr>
            <a:picLocks noChangeAspect="1"/>
          </p:cNvPicPr>
          <p:nvPr/>
        </p:nvPicPr>
        <p:blipFill>
          <a:blip r:embed="rId1"/>
          <a:srcRect l="0" r="0" t="-276" b="-276"/>
          <a:stretch/>
        </p:blipFill>
        <p:spPr>
          <a:xfrm>
            <a:off x="5295900" y="1201440"/>
            <a:ext cx="1600200" cy="546100"/>
          </a:xfrm>
          <a:prstGeom prst="rect">
            <a:avLst/>
          </a:prstGeom>
        </p:spPr>
      </p:pic>
      <p:sp>
        <p:nvSpPr>
          <p:cNvPr id="3" name="Text 0"/>
          <p:cNvSpPr/>
          <p:nvPr>
            <p:ph type="title"/>
          </p:nvPr>
        </p:nvSpPr>
        <p:spPr>
          <a:xfrm>
            <a:off x="1905381" y="2052340"/>
            <a:ext cx="8381140" cy="2463800"/>
          </a:xfrm>
          <a:prstGeom prst="rect">
            <a:avLst/>
          </a:prstGeom>
          <a:noFill/>
          <a:ln/>
        </p:spPr>
        <p:txBody>
          <a:bodyPr wrap="square" lIns="0" tIns="0" rIns="0" bIns="0" rtlCol="0" anchor="t">
            <a:normAutofit/>
          </a:bodyPr>
          <a:lstStyle/>
          <a:p>
            <a:pPr algn="ctr" indent="0" marL="0">
              <a:lnSpc>
                <a:spcPts val="6400"/>
              </a:lnSpc>
              <a:buNone/>
            </a:pPr>
            <a:r>
              <a:rPr lang="en-US" sz="6400" b="1" i="0" dirty="0">
                <a:solidFill>
                  <a:srgbClr val="330662"/>
                </a:solidFill>
                <a:latin typeface="Frank Ruhl Libre" pitchFamily="18" charset="0"/>
                <a:ea typeface="Frank Ruhl Libre" pitchFamily="18" charset="-122"/>
                <a:cs typeface="Frank Ruhl Libre" pitchFamily="18" charset="-120"/>
              </a:rPr>
              <a:t>What Drives the Mood</a:t>
            </a:r>
            <a:endParaRPr lang="en-US" sz="6400" dirty="0"/>
          </a:p>
          <a:p>
            <a:pPr algn="ctr" indent="0" marL="0">
              <a:lnSpc>
                <a:spcPts val="6400"/>
              </a:lnSpc>
              <a:buNone/>
            </a:pPr>
            <a:r>
              <a:rPr lang="en-US" sz="6400" b="1" i="0" dirty="0">
                <a:solidFill>
                  <a:srgbClr val="330662"/>
                </a:solidFill>
                <a:latin typeface="Frank Ruhl Libre" pitchFamily="18" charset="0"/>
                <a:ea typeface="Frank Ruhl Libre" pitchFamily="18" charset="-122"/>
                <a:cs typeface="Frank Ruhl Libre" pitchFamily="18" charset="-120"/>
              </a:rPr>
              <a:t>and Reach of a Post?</a:t>
            </a:r>
            <a:endParaRPr lang="en-US" sz="6400" dirty="0"/>
          </a:p>
        </p:txBody>
      </p:sp>
      <p:sp>
        <p:nvSpPr>
          <p:cNvPr id="4" name="Text 1"/>
          <p:cNvSpPr/>
          <p:nvPr/>
        </p:nvSpPr>
        <p:spPr>
          <a:xfrm>
            <a:off x="629374" y="4795540"/>
            <a:ext cx="10933152" cy="368300"/>
          </a:xfrm>
          <a:prstGeom prst="rect">
            <a:avLst/>
          </a:prstGeom>
          <a:noFill/>
          <a:ln/>
        </p:spPr>
        <p:txBody>
          <a:bodyPr wrap="square" lIns="0" tIns="0" rIns="0" bIns="0" rtlCol="0" anchor="t">
            <a:normAutofit/>
          </a:bodyPr>
          <a:lstStyle/>
          <a:p>
            <a:pPr algn="ctr" indent="0" marL="0">
              <a:lnSpc>
                <a:spcPts val="2700"/>
              </a:lnSpc>
              <a:buNone/>
            </a:pPr>
            <a:r>
              <a:rPr lang="en-US" sz="1800" dirty="0">
                <a:solidFill>
                  <a:srgbClr val="330662"/>
                </a:solidFill>
                <a:latin typeface="Montserrat" pitchFamily="34" charset="0"/>
                <a:ea typeface="Montserrat" pitchFamily="34" charset="-122"/>
                <a:cs typeface="Montserrat" pitchFamily="34" charset="-120"/>
              </a:rPr>
              <a:t>Social Media Sentiment Analysis · 732 posts on Instagram, Twitter and Facebook</a:t>
            </a:r>
            <a:endParaRPr lang="en-US" sz="1800" dirty="0"/>
          </a:p>
        </p:txBody>
      </p:sp>
      <p:sp>
        <p:nvSpPr>
          <p:cNvPr id="5" name="Text 2"/>
          <p:cNvSpPr/>
          <p:nvPr/>
        </p:nvSpPr>
        <p:spPr>
          <a:xfrm>
            <a:off x="5502364" y="5443240"/>
            <a:ext cx="1187172" cy="238720"/>
          </a:xfrm>
          <a:prstGeom prst="rect">
            <a:avLst/>
          </a:prstGeom>
          <a:noFill/>
          <a:ln/>
        </p:spPr>
        <p:txBody>
          <a:bodyPr wrap="square" lIns="0" tIns="0" rIns="0" bIns="0" rtlCol="0" anchor="t">
            <a:normAutofit/>
          </a:bodyPr>
          <a:lstStyle/>
          <a:p>
            <a:pPr algn="ctr" indent="0" marL="0">
              <a:lnSpc>
                <a:spcPts val="1680"/>
              </a:lnSpc>
              <a:buNone/>
            </a:pPr>
            <a:r>
              <a:rPr lang="en-US" sz="1200" b="1" spc="350" kern="0" dirty="0">
                <a:solidFill>
                  <a:srgbClr val="330662"/>
                </a:solidFill>
                <a:latin typeface="Montserrat" pitchFamily="34" charset="0"/>
                <a:ea typeface="Montserrat" pitchFamily="34" charset="-122"/>
                <a:cs typeface="Montserrat" pitchFamily="34" charset="-120"/>
              </a:rPr>
              <a:t>28.10.26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50" kern="0" dirty="0">
                <a:solidFill>
                  <a:srgbClr val="57068C"/>
                </a:solidFill>
                <a:latin typeface="Montserrat" pitchFamily="34" charset="0"/>
                <a:ea typeface="Montserrat" pitchFamily="34" charset="-122"/>
                <a:cs typeface="Montserrat" pitchFamily="34" charset="-120"/>
              </a:rPr>
              <a:t>PART 01 · DATA</a:t>
            </a:r>
            <a:endParaRPr lang="en-US" sz="1200" dirty="0"/>
          </a:p>
        </p:txBody>
      </p:sp>
      <p:sp>
        <p:nvSpPr>
          <p:cNvPr id="3" name="Text 1"/>
          <p:cNvSpPr/>
          <p:nvPr>
            <p:ph type="title"/>
          </p:nvPr>
        </p:nvSpPr>
        <p:spPr>
          <a:xfrm>
            <a:off x="812800" y="11277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57068C"/>
                </a:solidFill>
                <a:latin typeface="Frank Ruhl Libre" pitchFamily="18" charset="0"/>
                <a:ea typeface="Frank Ruhl Libre" pitchFamily="18" charset="-122"/>
                <a:cs typeface="Frank Ruhl Libre" pitchFamily="18" charset="-120"/>
              </a:rPr>
              <a:t>Skewed Data, One Redundant Metric</a:t>
            </a:r>
            <a:endParaRPr lang="en-US" sz="4400" dirty="0"/>
          </a:p>
        </p:txBody>
      </p:sp>
      <p:sp>
        <p:nvSpPr>
          <p:cNvPr id="4" name="Shape 2"/>
          <p:cNvSpPr/>
          <p:nvPr/>
        </p:nvSpPr>
        <p:spPr>
          <a:xfrm>
            <a:off x="812800" y="1946870"/>
            <a:ext cx="2413000" cy="0"/>
          </a:xfrm>
          <a:prstGeom prst="line">
            <a:avLst/>
          </a:prstGeom>
          <a:noFill/>
          <a:ln w="12700">
            <a:solidFill>
              <a:srgbClr val="57068C"/>
            </a:solidFill>
            <a:prstDash val="solid"/>
          </a:ln>
        </p:spPr>
      </p:sp>
      <p:sp>
        <p:nvSpPr>
          <p:cNvPr id="5" name="Text 3"/>
          <p:cNvSpPr/>
          <p:nvPr/>
        </p:nvSpPr>
        <p:spPr>
          <a:xfrm>
            <a:off x="812800" y="2080220"/>
            <a:ext cx="248539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57068C"/>
                </a:solidFill>
                <a:latin typeface="Frank Ruhl Libre" pitchFamily="18" charset="0"/>
                <a:ea typeface="Frank Ruhl Libre" pitchFamily="18" charset="-122"/>
                <a:cs typeface="Frank Ruhl Libre" pitchFamily="18" charset="-120"/>
              </a:rPr>
              <a:t>83%</a:t>
            </a:r>
            <a:endParaRPr lang="en-US" sz="3200" dirty="0"/>
          </a:p>
        </p:txBody>
      </p:sp>
      <p:sp>
        <p:nvSpPr>
          <p:cNvPr id="6" name="Text 4"/>
          <p:cNvSpPr/>
          <p:nvPr/>
        </p:nvSpPr>
        <p:spPr>
          <a:xfrm>
            <a:off x="812800" y="2537420"/>
            <a:ext cx="2485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3333"/>
                </a:solidFill>
                <a:latin typeface="Montserrat" pitchFamily="34" charset="0"/>
                <a:ea typeface="Montserrat" pitchFamily="34" charset="-122"/>
                <a:cs typeface="Montserrat" pitchFamily="34" charset="-120"/>
              </a:rPr>
              <a:t>of posts from 5 of 33 countries</a:t>
            </a:r>
            <a:endParaRPr lang="en-US" sz="1200" dirty="0"/>
          </a:p>
        </p:txBody>
      </p:sp>
      <p:sp>
        <p:nvSpPr>
          <p:cNvPr id="7" name="Shape 5"/>
          <p:cNvSpPr/>
          <p:nvPr/>
        </p:nvSpPr>
        <p:spPr>
          <a:xfrm>
            <a:off x="3530600" y="1946870"/>
            <a:ext cx="2413000" cy="0"/>
          </a:xfrm>
          <a:prstGeom prst="line">
            <a:avLst/>
          </a:prstGeom>
          <a:noFill/>
          <a:ln w="12700">
            <a:solidFill>
              <a:srgbClr val="57068C"/>
            </a:solidFill>
            <a:prstDash val="solid"/>
          </a:ln>
        </p:spPr>
      </p:sp>
      <p:sp>
        <p:nvSpPr>
          <p:cNvPr id="8" name="Text 6"/>
          <p:cNvSpPr/>
          <p:nvPr/>
        </p:nvSpPr>
        <p:spPr>
          <a:xfrm>
            <a:off x="3530600" y="2080220"/>
            <a:ext cx="248539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57068C"/>
                </a:solidFill>
                <a:latin typeface="Frank Ruhl Libre" pitchFamily="18" charset="0"/>
                <a:ea typeface="Frank Ruhl Libre" pitchFamily="18" charset="-122"/>
                <a:cs typeface="Frank Ruhl Libre" pitchFamily="18" charset="-120"/>
              </a:rPr>
              <a:t>39%</a:t>
            </a:r>
            <a:endParaRPr lang="en-US" sz="3200" dirty="0"/>
          </a:p>
        </p:txBody>
      </p:sp>
      <p:sp>
        <p:nvSpPr>
          <p:cNvPr id="9" name="Text 7"/>
          <p:cNvSpPr/>
          <p:nvPr/>
        </p:nvSpPr>
        <p:spPr>
          <a:xfrm>
            <a:off x="3530600" y="2537420"/>
            <a:ext cx="2485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3333"/>
                </a:solidFill>
                <a:latin typeface="Montserrat" pitchFamily="34" charset="0"/>
                <a:ea typeface="Montserrat" pitchFamily="34" charset="-122"/>
                <a:cs typeface="Montserrat" pitchFamily="34" charset="-120"/>
              </a:rPr>
              <a:t>of posts from 2023 alone</a:t>
            </a:r>
            <a:endParaRPr lang="en-US" sz="1200" dirty="0"/>
          </a:p>
        </p:txBody>
      </p:sp>
      <p:sp>
        <p:nvSpPr>
          <p:cNvPr id="10" name="Shape 8"/>
          <p:cNvSpPr/>
          <p:nvPr/>
        </p:nvSpPr>
        <p:spPr>
          <a:xfrm>
            <a:off x="6248400" y="1946870"/>
            <a:ext cx="2413000" cy="0"/>
          </a:xfrm>
          <a:prstGeom prst="line">
            <a:avLst/>
          </a:prstGeom>
          <a:noFill/>
          <a:ln w="12700">
            <a:solidFill>
              <a:srgbClr val="57068C"/>
            </a:solidFill>
            <a:prstDash val="solid"/>
          </a:ln>
        </p:spPr>
      </p:sp>
      <p:sp>
        <p:nvSpPr>
          <p:cNvPr id="11" name="Text 9"/>
          <p:cNvSpPr/>
          <p:nvPr/>
        </p:nvSpPr>
        <p:spPr>
          <a:xfrm>
            <a:off x="6248400" y="2080220"/>
            <a:ext cx="248539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57068C"/>
                </a:solidFill>
                <a:latin typeface="Frank Ruhl Libre" pitchFamily="18" charset="0"/>
                <a:ea typeface="Frank Ruhl Libre" pitchFamily="18" charset="-122"/>
                <a:cs typeface="Frank Ruhl Libre" pitchFamily="18" charset="-120"/>
              </a:rPr>
              <a:t>279 → 191</a:t>
            </a:r>
            <a:endParaRPr lang="en-US" sz="3200" dirty="0"/>
          </a:p>
        </p:txBody>
      </p:sp>
      <p:sp>
        <p:nvSpPr>
          <p:cNvPr id="12" name="Text 10"/>
          <p:cNvSpPr/>
          <p:nvPr/>
        </p:nvSpPr>
        <p:spPr>
          <a:xfrm>
            <a:off x="6248400" y="2537420"/>
            <a:ext cx="2485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3333"/>
                </a:solidFill>
                <a:latin typeface="Montserrat" pitchFamily="34" charset="0"/>
                <a:ea typeface="Montserrat" pitchFamily="34" charset="-122"/>
                <a:cs typeface="Montserrat" pitchFamily="34" charset="-120"/>
              </a:rPr>
              <a:t>labels after stripping spaces</a:t>
            </a:r>
            <a:endParaRPr lang="en-US" sz="1200" dirty="0"/>
          </a:p>
        </p:txBody>
      </p:sp>
      <p:sp>
        <p:nvSpPr>
          <p:cNvPr id="13" name="Shape 11"/>
          <p:cNvSpPr/>
          <p:nvPr/>
        </p:nvSpPr>
        <p:spPr>
          <a:xfrm>
            <a:off x="8966200" y="1946870"/>
            <a:ext cx="2413000" cy="0"/>
          </a:xfrm>
          <a:prstGeom prst="line">
            <a:avLst/>
          </a:prstGeom>
          <a:noFill/>
          <a:ln w="12700">
            <a:solidFill>
              <a:srgbClr val="57068C"/>
            </a:solidFill>
            <a:prstDash val="solid"/>
          </a:ln>
        </p:spPr>
      </p:sp>
      <p:sp>
        <p:nvSpPr>
          <p:cNvPr id="14" name="Text 12"/>
          <p:cNvSpPr/>
          <p:nvPr/>
        </p:nvSpPr>
        <p:spPr>
          <a:xfrm>
            <a:off x="8966200" y="2080220"/>
            <a:ext cx="248539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57068C"/>
                </a:solidFill>
                <a:latin typeface="Frank Ruhl Libre" pitchFamily="18" charset="0"/>
                <a:ea typeface="Frank Ruhl Libre" pitchFamily="18" charset="-122"/>
                <a:cs typeface="Frank Ruhl Libre" pitchFamily="18" charset="-120"/>
              </a:rPr>
              <a:t>r = 0.998</a:t>
            </a:r>
            <a:endParaRPr lang="en-US" sz="3200" dirty="0"/>
          </a:p>
        </p:txBody>
      </p:sp>
      <p:sp>
        <p:nvSpPr>
          <p:cNvPr id="15" name="Text 13"/>
          <p:cNvSpPr/>
          <p:nvPr/>
        </p:nvSpPr>
        <p:spPr>
          <a:xfrm>
            <a:off x="8966200" y="2537420"/>
            <a:ext cx="24853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3333"/>
                </a:solidFill>
                <a:latin typeface="Montserrat" pitchFamily="34" charset="0"/>
                <a:ea typeface="Montserrat" pitchFamily="34" charset="-122"/>
                <a:cs typeface="Montserrat" pitchFamily="34" charset="-120"/>
              </a:rPr>
              <a:t>Likes vs Retweets → </a:t>
            </a:r>
            <a:r>
              <a:rPr lang="en-US" sz="1200" b="1" dirty="0">
                <a:solidFill>
                  <a:srgbClr val="333333"/>
                </a:solidFill>
                <a:latin typeface="Montserrat" pitchFamily="34" charset="0"/>
                <a:ea typeface="Montserrat" pitchFamily="34" charset="-122"/>
                <a:cs typeface="Montserrat" pitchFamily="34" charset="-120"/>
              </a:rPr>
              <a:t>use Likes only</a:t>
            </a:r>
            <a:endParaRPr lang="en-US" sz="1200" dirty="0"/>
          </a:p>
        </p:txBody>
      </p:sp>
      <p:sp>
        <p:nvSpPr>
          <p:cNvPr id="16" name="Shape 14"/>
          <p:cNvSpPr/>
          <p:nvPr/>
        </p:nvSpPr>
        <p:spPr>
          <a:xfrm>
            <a:off x="815975" y="3221236"/>
            <a:ext cx="10560050" cy="2617589"/>
          </a:xfrm>
          <a:prstGeom prst="rect">
            <a:avLst/>
          </a:prstGeom>
          <a:noFill/>
          <a:ln w="6350">
            <a:solidFill>
              <a:srgbClr val="57068C"/>
            </a:solidFill>
            <a:prstDash val="solid"/>
          </a:ln>
        </p:spPr>
      </p:sp>
      <p:pic>
        <p:nvPicPr>
          <p:cNvPr id="17" name="Image 0" descr="Histogram of Likes (10 to 80, centred near 43) and scatter of Retweets vs Likes forming a near-perfect line">    </p:cNvPr>
          <p:cNvPicPr>
            <a:picLocks noChangeAspect="1"/>
          </p:cNvPicPr>
          <p:nvPr/>
        </p:nvPicPr>
        <p:blipFill>
          <a:blip r:embed="rId1"/>
          <a:srcRect l="-7210" r="-7210" t="0" b="0"/>
          <a:stretch/>
        </p:blipFill>
        <p:spPr>
          <a:xfrm>
            <a:off x="2286000" y="3450530"/>
            <a:ext cx="7620000" cy="2159000"/>
          </a:xfrm>
          <a:prstGeom prst="rect">
            <a:avLst/>
          </a:prstGeom>
        </p:spPr>
      </p:pic>
      <p:pic>
        <p:nvPicPr>
          <p:cNvPr id="18" name="Image 1" descr="NYU">    </p:cNvPr>
          <p:cNvPicPr>
            <a:picLocks noChangeAspect="1"/>
          </p:cNvPicPr>
          <p:nvPr/>
        </p:nvPicPr>
        <p:blipFill>
          <a:blip r:embed="rId2"/>
          <a:srcRect l="0" r="0" t="-276" b="-276"/>
          <a:stretch/>
        </p:blipFill>
        <p:spPr>
          <a:xfrm>
            <a:off x="812800" y="6229350"/>
            <a:ext cx="800100" cy="273050"/>
          </a:xfrm>
          <a:prstGeom prst="rect">
            <a:avLst/>
          </a:prstGeom>
        </p:spPr>
      </p:pic>
      <p:sp>
        <p:nvSpPr>
          <p:cNvPr id="19" name="Text 15"/>
          <p:cNvSpPr/>
          <p:nvPr/>
        </p:nvSpPr>
        <p:spPr>
          <a:xfrm>
            <a:off x="19050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5C5C"/>
                </a:solidFill>
                <a:latin typeface="Montserrat" pitchFamily="34" charset="0"/>
                <a:ea typeface="Montserrat" pitchFamily="34" charset="-122"/>
                <a:cs typeface="Montserrat" pitchFamily="34" charset="-120"/>
              </a:rPr>
              <a:t>No missing values; 22 duplicate rows kept and noted</a:t>
            </a:r>
            <a:endParaRPr lang="en-US" sz="1200" dirty="0"/>
          </a:p>
        </p:txBody>
      </p:sp>
      <p:sp>
        <p:nvSpPr>
          <p:cNvPr id="20" name="Text 16"/>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7068C"/>
                </a:solidFill>
                <a:latin typeface="Montserrat" pitchFamily="34" charset="0"/>
                <a:ea typeface="Montserrat" pitchFamily="34" charset="-122"/>
                <a:cs typeface="Montserrat"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50" kern="0" dirty="0">
                <a:solidFill>
                  <a:srgbClr val="57068C"/>
                </a:solidFill>
                <a:latin typeface="Montserrat" pitchFamily="34" charset="0"/>
                <a:ea typeface="Montserrat" pitchFamily="34" charset="-122"/>
                <a:cs typeface="Montserrat" pitchFamily="34" charset="-120"/>
              </a:rPr>
              <a:t>PART 02 · SENTIMENT</a:t>
            </a:r>
            <a:endParaRPr lang="en-US" sz="1200" dirty="0"/>
          </a:p>
        </p:txBody>
      </p:sp>
      <p:sp>
        <p:nvSpPr>
          <p:cNvPr id="3" name="Text 1"/>
          <p:cNvSpPr/>
          <p:nvPr>
            <p:ph type="title"/>
          </p:nvPr>
        </p:nvSpPr>
        <p:spPr>
          <a:xfrm>
            <a:off x="812800" y="11277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57068C"/>
                </a:solidFill>
                <a:latin typeface="Frank Ruhl Libre" pitchFamily="18" charset="0"/>
                <a:ea typeface="Frank Ruhl Libre" pitchFamily="18" charset="-122"/>
                <a:cs typeface="Frank Ruhl Libre" pitchFamily="18" charset="-120"/>
              </a:rPr>
              <a:t>191 Labels, Four Groups, One Mood</a:t>
            </a:r>
            <a:endParaRPr lang="en-US" sz="4400" dirty="0"/>
          </a:p>
        </p:txBody>
      </p:sp>
      <p:sp>
        <p:nvSpPr>
          <p:cNvPr id="4" name="Text 2"/>
          <p:cNvSpPr/>
          <p:nvPr/>
        </p:nvSpPr>
        <p:spPr>
          <a:xfrm>
            <a:off x="812800" y="1991320"/>
            <a:ext cx="3924300" cy="1168400"/>
          </a:xfrm>
          <a:prstGeom prst="rect">
            <a:avLst/>
          </a:prstGeom>
          <a:noFill/>
          <a:ln/>
        </p:spPr>
        <p:txBody>
          <a:bodyPr wrap="square" lIns="0" tIns="0" rIns="0" bIns="0" rtlCol="0" anchor="t">
            <a:normAutofit/>
          </a:bodyPr>
          <a:lstStyle/>
          <a:p>
            <a:pPr algn="l" indent="0" marL="0">
              <a:lnSpc>
                <a:spcPts val="9000"/>
              </a:lnSpc>
              <a:buNone/>
            </a:pPr>
            <a:r>
              <a:rPr lang="en-US" sz="9000" b="1" dirty="0">
                <a:solidFill>
                  <a:srgbClr val="57068C"/>
                </a:solidFill>
                <a:latin typeface="Frank Ruhl Libre" pitchFamily="18" charset="0"/>
                <a:ea typeface="Frank Ruhl Libre" pitchFamily="18" charset="-122"/>
                <a:cs typeface="Frank Ruhl Libre" pitchFamily="18" charset="-120"/>
              </a:rPr>
              <a:t>65%</a:t>
            </a:r>
            <a:endParaRPr lang="en-US" sz="9000" dirty="0"/>
          </a:p>
        </p:txBody>
      </p:sp>
      <p:sp>
        <p:nvSpPr>
          <p:cNvPr id="5" name="Text 3"/>
          <p:cNvSpPr/>
          <p:nvPr/>
        </p:nvSpPr>
        <p:spPr>
          <a:xfrm>
            <a:off x="812800" y="3286720"/>
            <a:ext cx="392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7068C"/>
                </a:solidFill>
                <a:latin typeface="Montserrat" pitchFamily="34" charset="0"/>
                <a:ea typeface="Montserrat" pitchFamily="34" charset="-122"/>
                <a:cs typeface="Montserrat" pitchFamily="34" charset="-120"/>
              </a:rPr>
              <a:t>Positive After Grouping</a:t>
            </a:r>
            <a:endParaRPr lang="en-US" sz="1400" dirty="0"/>
          </a:p>
        </p:txBody>
      </p:sp>
      <p:sp>
        <p:nvSpPr>
          <p:cNvPr id="6" name="Text 4"/>
          <p:cNvSpPr/>
          <p:nvPr/>
        </p:nvSpPr>
        <p:spPr>
          <a:xfrm>
            <a:off x="812800" y="3687961"/>
            <a:ext cx="392430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33333"/>
                </a:solidFill>
                <a:latin typeface="Montserrat" pitchFamily="34" charset="0"/>
                <a:ea typeface="Montserrat" pitchFamily="34" charset="-122"/>
                <a:cs typeface="Montserrat" pitchFamily="34" charset="-120"/>
              </a:rPr>
              <a:t>Negative 27% · Neutral 5% · Mixed 4%. 79 labels appear only once.</a:t>
            </a:r>
            <a:endParaRPr lang="en-US" sz="1400" dirty="0"/>
          </a:p>
        </p:txBody>
      </p:sp>
      <p:sp>
        <p:nvSpPr>
          <p:cNvPr id="7" name="Text 5"/>
          <p:cNvSpPr/>
          <p:nvPr/>
        </p:nvSpPr>
        <p:spPr>
          <a:xfrm>
            <a:off x="812800" y="4373761"/>
            <a:ext cx="392430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33333"/>
                </a:solidFill>
                <a:latin typeface="Montserrat" pitchFamily="34" charset="0"/>
                <a:ea typeface="Montserrat" pitchFamily="34" charset="-122"/>
                <a:cs typeface="Montserrat" pitchFamily="34" charset="-120"/>
              </a:rPr>
              <a:t>The mix is the same on every platform: </a:t>
            </a:r>
            <a:r>
              <a:rPr lang="en-US" sz="1400" b="1" dirty="0">
                <a:solidFill>
                  <a:srgbClr val="333333"/>
                </a:solidFill>
                <a:latin typeface="Montserrat" pitchFamily="34" charset="0"/>
                <a:ea typeface="Montserrat" pitchFamily="34" charset="-122"/>
                <a:cs typeface="Montserrat" pitchFamily="34" charset="-120"/>
              </a:rPr>
              <a:t>64–65% Positive</a:t>
            </a:r>
            <a:r>
              <a:rPr lang="en-US" sz="1400" dirty="0">
                <a:solidFill>
                  <a:srgbClr val="333333"/>
                </a:solidFill>
                <a:latin typeface="Montserrat" pitchFamily="34" charset="0"/>
                <a:ea typeface="Montserrat" pitchFamily="34" charset="-122"/>
                <a:cs typeface="Montserrat" pitchFamily="34" charset="-120"/>
              </a:rPr>
              <a:t>, 26–28% Negative.</a:t>
            </a:r>
            <a:endParaRPr lang="en-US" sz="1400" dirty="0"/>
          </a:p>
        </p:txBody>
      </p:sp>
      <p:sp>
        <p:nvSpPr>
          <p:cNvPr id="8" name="Shape 6"/>
          <p:cNvSpPr/>
          <p:nvPr/>
        </p:nvSpPr>
        <p:spPr>
          <a:xfrm>
            <a:off x="5032375" y="1994495"/>
            <a:ext cx="6343650" cy="3844330"/>
          </a:xfrm>
          <a:prstGeom prst="rect">
            <a:avLst/>
          </a:prstGeom>
          <a:noFill/>
          <a:ln w="6350">
            <a:solidFill>
              <a:srgbClr val="57068C"/>
            </a:solidFill>
            <a:prstDash val="solid"/>
          </a:ln>
        </p:spPr>
      </p:sp>
      <p:pic>
        <p:nvPicPr>
          <p:cNvPr id="9" name="Image 0" descr="Stacked bars of sentiment groups for Facebook, Instagram and Twitter, nearly identical">    </p:cNvPr>
          <p:cNvPicPr>
            <a:picLocks noChangeAspect="1"/>
          </p:cNvPicPr>
          <p:nvPr/>
        </p:nvPicPr>
        <p:blipFill>
          <a:blip r:embed="rId1"/>
          <a:srcRect l="-416" r="-416" t="0" b="0"/>
          <a:stretch/>
        </p:blipFill>
        <p:spPr>
          <a:xfrm>
            <a:off x="5346700" y="2392660"/>
            <a:ext cx="5715000" cy="3048000"/>
          </a:xfrm>
          <a:prstGeom prst="rect">
            <a:avLst/>
          </a:prstGeom>
        </p:spPr>
      </p:pic>
      <p:pic>
        <p:nvPicPr>
          <p:cNvPr id="10" name="Image 1" descr="NYU">    </p:cNvPr>
          <p:cNvPicPr>
            <a:picLocks noChangeAspect="1"/>
          </p:cNvPicPr>
          <p:nvPr/>
        </p:nvPicPr>
        <p:blipFill>
          <a:blip r:embed="rId2"/>
          <a:srcRect l="0" r="0" t="-276" b="-276"/>
          <a:stretch/>
        </p:blipFill>
        <p:spPr>
          <a:xfrm>
            <a:off x="812800" y="6229350"/>
            <a:ext cx="800100" cy="273050"/>
          </a:xfrm>
          <a:prstGeom prst="rect">
            <a:avLst/>
          </a:prstGeom>
        </p:spPr>
      </p:pic>
      <p:sp>
        <p:nvSpPr>
          <p:cNvPr id="11" name="Text 7"/>
          <p:cNvSpPr/>
          <p:nvPr/>
        </p:nvSpPr>
        <p:spPr>
          <a:xfrm>
            <a:off x="19050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5C5C"/>
                </a:solidFill>
                <a:latin typeface="Montserrat" pitchFamily="34" charset="0"/>
                <a:ea typeface="Montserrat" pitchFamily="34" charset="-122"/>
                <a:cs typeface="Montserrat" pitchFamily="34" charset="-120"/>
              </a:rPr>
              <a:t>Every label mapped by hand to Positive, Negative, Neutral or Mixed</a:t>
            </a:r>
            <a:endParaRPr lang="en-US" sz="1200" dirty="0"/>
          </a:p>
        </p:txBody>
      </p:sp>
      <p:sp>
        <p:nvSpPr>
          <p:cNvPr id="12" name="Text 8"/>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7068C"/>
                </a:solidFill>
                <a:latin typeface="Montserrat" pitchFamily="34" charset="0"/>
                <a:ea typeface="Montserrat" pitchFamily="34" charset="-122"/>
                <a:cs typeface="Montserrat"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50" kern="0" dirty="0">
                <a:solidFill>
                  <a:srgbClr val="57068C"/>
                </a:solidFill>
                <a:latin typeface="Montserrat" pitchFamily="34" charset="0"/>
                <a:ea typeface="Montserrat" pitchFamily="34" charset="-122"/>
                <a:cs typeface="Montserrat" pitchFamily="34" charset="-120"/>
              </a:rPr>
              <a:t>PART 03 · TIME</a:t>
            </a:r>
            <a:endParaRPr lang="en-US" sz="1200" dirty="0"/>
          </a:p>
        </p:txBody>
      </p:sp>
      <p:sp>
        <p:nvSpPr>
          <p:cNvPr id="3" name="Text 1"/>
          <p:cNvSpPr/>
          <p:nvPr>
            <p:ph type="title"/>
          </p:nvPr>
        </p:nvSpPr>
        <p:spPr>
          <a:xfrm>
            <a:off x="812800" y="11277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57068C"/>
                </a:solidFill>
                <a:latin typeface="Frank Ruhl Libre" pitchFamily="18" charset="0"/>
                <a:ea typeface="Frank Ruhl Libre" pitchFamily="18" charset="-122"/>
                <a:cs typeface="Frank Ruhl Libre" pitchFamily="18" charset="-120"/>
              </a:rPr>
              <a:t>Local Time, and a Mood That Ignores It</a:t>
            </a:r>
            <a:endParaRPr lang="en-US" sz="4400" dirty="0"/>
          </a:p>
        </p:txBody>
      </p:sp>
      <p:sp>
        <p:nvSpPr>
          <p:cNvPr id="4" name="Text 2"/>
          <p:cNvSpPr/>
          <p:nvPr/>
        </p:nvSpPr>
        <p:spPr>
          <a:xfrm>
            <a:off x="812800" y="1991320"/>
            <a:ext cx="3924300" cy="10922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33333"/>
                </a:solidFill>
                <a:latin typeface="Montserrat" pitchFamily="34" charset="0"/>
                <a:ea typeface="Montserrat" pitchFamily="34" charset="-122"/>
                <a:cs typeface="Montserrat" pitchFamily="34" charset="-120"/>
              </a:rPr>
              <a:t>USA and India are ~10 hours apart, yet their average posting hours are </a:t>
            </a:r>
            <a:r>
              <a:rPr lang="en-US" sz="1400" b="1" dirty="0">
                <a:solidFill>
                  <a:srgbClr val="333333"/>
                </a:solidFill>
                <a:latin typeface="Montserrat" pitchFamily="34" charset="0"/>
                <a:ea typeface="Montserrat" pitchFamily="34" charset="-122"/>
                <a:cs typeface="Montserrat" pitchFamily="34" charset="-120"/>
              </a:rPr>
              <a:t>15.6</a:t>
            </a:r>
            <a:r>
              <a:rPr lang="en-US" sz="1400" dirty="0">
                <a:solidFill>
                  <a:srgbClr val="333333"/>
                </a:solidFill>
                <a:latin typeface="Montserrat" pitchFamily="34" charset="0"/>
                <a:ea typeface="Montserrat" pitchFamily="34" charset="-122"/>
                <a:cs typeface="Montserrat" pitchFamily="34" charset="-120"/>
              </a:rPr>
              <a:t> and </a:t>
            </a:r>
            <a:r>
              <a:rPr lang="en-US" sz="1400" b="1" dirty="0">
                <a:solidFill>
                  <a:srgbClr val="333333"/>
                </a:solidFill>
                <a:latin typeface="Montserrat" pitchFamily="34" charset="0"/>
                <a:ea typeface="Montserrat" pitchFamily="34" charset="-122"/>
                <a:cs typeface="Montserrat" pitchFamily="34" charset="-120"/>
              </a:rPr>
              <a:t>13.4</a:t>
            </a:r>
            <a:r>
              <a:rPr lang="en-US" sz="1400" dirty="0">
                <a:solidFill>
                  <a:srgbClr val="333333"/>
                </a:solidFill>
                <a:latin typeface="Montserrat" pitchFamily="34" charset="0"/>
                <a:ea typeface="Montserrat" pitchFamily="34" charset="-122"/>
                <a:cs typeface="Montserrat" pitchFamily="34" charset="-120"/>
              </a:rPr>
              <a:t>. If it were UTC, India would shift by ~10 h.</a:t>
            </a:r>
            <a:endParaRPr lang="en-US" sz="1400" dirty="0"/>
          </a:p>
        </p:txBody>
      </p:sp>
      <p:sp>
        <p:nvSpPr>
          <p:cNvPr id="5" name="Text 3"/>
          <p:cNvSpPr/>
          <p:nvPr/>
        </p:nvSpPr>
        <p:spPr>
          <a:xfrm>
            <a:off x="812800" y="3210520"/>
            <a:ext cx="3924300"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33333"/>
                </a:solidFill>
                <a:latin typeface="Montserrat" pitchFamily="34" charset="0"/>
                <a:ea typeface="Montserrat" pitchFamily="34" charset="-122"/>
                <a:cs typeface="Montserrat" pitchFamily="34" charset="-120"/>
              </a:rPr>
              <a:t>Posts peak afternoon and evening. Positive share stays at </a:t>
            </a:r>
            <a:r>
              <a:rPr lang="en-US" sz="1400" b="1" dirty="0">
                <a:solidFill>
                  <a:srgbClr val="333333"/>
                </a:solidFill>
                <a:latin typeface="Montserrat" pitchFamily="34" charset="0"/>
                <a:ea typeface="Montserrat" pitchFamily="34" charset="-122"/>
                <a:cs typeface="Montserrat" pitchFamily="34" charset="-120"/>
              </a:rPr>
              <a:t>64–67%</a:t>
            </a:r>
            <a:r>
              <a:rPr lang="en-US" sz="1400" dirty="0">
                <a:solidFill>
                  <a:srgbClr val="333333"/>
                </a:solidFill>
                <a:latin typeface="Montserrat" pitchFamily="34" charset="0"/>
                <a:ea typeface="Montserrat" pitchFamily="34" charset="-122"/>
                <a:cs typeface="Montserrat" pitchFamily="34" charset="-120"/>
              </a:rPr>
              <a:t> in every part of the day.</a:t>
            </a:r>
            <a:endParaRPr lang="en-US" sz="1400" dirty="0"/>
          </a:p>
        </p:txBody>
      </p:sp>
      <p:sp>
        <p:nvSpPr>
          <p:cNvPr id="6" name="Text 4"/>
          <p:cNvSpPr/>
          <p:nvPr/>
        </p:nvSpPr>
        <p:spPr>
          <a:xfrm>
            <a:off x="812800" y="4163020"/>
            <a:ext cx="3924300" cy="8255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333333"/>
                </a:solidFill>
                <a:latin typeface="Montserrat" pitchFamily="34" charset="0"/>
                <a:ea typeface="Montserrat" pitchFamily="34" charset="-122"/>
                <a:cs typeface="Montserrat" pitchFamily="34" charset="-120"/>
              </a:rPr>
              <a:t>Outliers:</a:t>
            </a:r>
            <a:r>
              <a:rPr lang="en-US" sz="1400" dirty="0">
                <a:solidFill>
                  <a:srgbClr val="333333"/>
                </a:solidFill>
                <a:latin typeface="Montserrat" pitchFamily="34" charset="0"/>
                <a:ea typeface="Montserrat" pitchFamily="34" charset="-122"/>
                <a:cs typeface="Montserrat" pitchFamily="34" charset="-120"/>
              </a:rPr>
              <a:t> Sep 2023 is 44% Negative, Oct 2023 is 29% Neutral — a batch of posts, not a season.</a:t>
            </a:r>
            <a:endParaRPr lang="en-US" sz="1400" dirty="0"/>
          </a:p>
        </p:txBody>
      </p:sp>
      <p:sp>
        <p:nvSpPr>
          <p:cNvPr id="7" name="Shape 5"/>
          <p:cNvSpPr/>
          <p:nvPr/>
        </p:nvSpPr>
        <p:spPr>
          <a:xfrm>
            <a:off x="5032375" y="1994495"/>
            <a:ext cx="6343650" cy="3844330"/>
          </a:xfrm>
          <a:prstGeom prst="rect">
            <a:avLst/>
          </a:prstGeom>
          <a:noFill/>
          <a:ln w="6350">
            <a:solidFill>
              <a:srgbClr val="57068C"/>
            </a:solidFill>
            <a:prstDash val="solid"/>
          </a:ln>
        </p:spPr>
      </p:sp>
      <p:pic>
        <p:nvPicPr>
          <p:cNvPr id="8" name="Image 0" descr="Box plots of recorded posting hour for USA, UK, Canada, Australia and India, all centred mid-afternoon">    </p:cNvPr>
          <p:cNvPicPr>
            <a:picLocks noChangeAspect="1"/>
          </p:cNvPicPr>
          <p:nvPr/>
        </p:nvPicPr>
        <p:blipFill>
          <a:blip r:embed="rId1"/>
          <a:srcRect l="-8847" r="-8847" t="0" b="0"/>
          <a:stretch/>
        </p:blipFill>
        <p:spPr>
          <a:xfrm>
            <a:off x="5346700" y="2519660"/>
            <a:ext cx="5715000" cy="2794000"/>
          </a:xfrm>
          <a:prstGeom prst="rect">
            <a:avLst/>
          </a:prstGeom>
        </p:spPr>
      </p:pic>
      <p:pic>
        <p:nvPicPr>
          <p:cNvPr id="9" name="Image 1" descr="NYU">    </p:cNvPr>
          <p:cNvPicPr>
            <a:picLocks noChangeAspect="1"/>
          </p:cNvPicPr>
          <p:nvPr/>
        </p:nvPicPr>
        <p:blipFill>
          <a:blip r:embed="rId2"/>
          <a:srcRect l="0" r="0" t="-276" b="-276"/>
          <a:stretch/>
        </p:blipFill>
        <p:spPr>
          <a:xfrm>
            <a:off x="812800" y="6229350"/>
            <a:ext cx="800100" cy="273050"/>
          </a:xfrm>
          <a:prstGeom prst="rect">
            <a:avLst/>
          </a:prstGeom>
        </p:spPr>
      </p:pic>
      <p:sp>
        <p:nvSpPr>
          <p:cNvPr id="10" name="Text 6"/>
          <p:cNvSpPr/>
          <p:nvPr/>
        </p:nvSpPr>
        <p:spPr>
          <a:xfrm>
            <a:off x="19050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5C5C"/>
                </a:solidFill>
                <a:latin typeface="Montserrat" pitchFamily="34" charset="0"/>
                <a:ea typeface="Montserrat" pitchFamily="34" charset="-122"/>
                <a:cs typeface="Montserrat" pitchFamily="34" charset="-120"/>
              </a:rPr>
              <a:t>Middle half of posts in every top-5 country falls between ~9:00 and 19:00</a:t>
            </a:r>
            <a:endParaRPr lang="en-US" sz="1200" dirty="0"/>
          </a:p>
        </p:txBody>
      </p:sp>
      <p:sp>
        <p:nvSpPr>
          <p:cNvPr id="11" name="Text 7"/>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7068C"/>
                </a:solidFill>
                <a:latin typeface="Montserrat" pitchFamily="34" charset="0"/>
                <a:ea typeface="Montserrat" pitchFamily="34" charset="-122"/>
                <a:cs typeface="Montserrat"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50" kern="0" dirty="0">
                <a:solidFill>
                  <a:srgbClr val="57068C"/>
                </a:solidFill>
                <a:latin typeface="Montserrat" pitchFamily="34" charset="0"/>
                <a:ea typeface="Montserrat" pitchFamily="34" charset="-122"/>
                <a:cs typeface="Montserrat" pitchFamily="34" charset="-120"/>
              </a:rPr>
              <a:t>PART 04 · ENGAGEMENT</a:t>
            </a:r>
            <a:endParaRPr lang="en-US" sz="1200" dirty="0"/>
          </a:p>
        </p:txBody>
      </p:sp>
      <p:sp>
        <p:nvSpPr>
          <p:cNvPr id="3" name="Text 1"/>
          <p:cNvSpPr/>
          <p:nvPr>
            <p:ph type="title"/>
          </p:nvPr>
        </p:nvSpPr>
        <p:spPr>
          <a:xfrm>
            <a:off x="812800" y="11277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57068C"/>
                </a:solidFill>
                <a:latin typeface="Frank Ruhl Libre" pitchFamily="18" charset="0"/>
                <a:ea typeface="Frank Ruhl Libre" pitchFamily="18" charset="-122"/>
                <a:cs typeface="Frank Ruhl Libre" pitchFamily="18" charset="-120"/>
              </a:rPr>
              <a:t>Positive Posts Earn More Likes</a:t>
            </a:r>
            <a:endParaRPr lang="en-US" sz="4400" dirty="0"/>
          </a:p>
        </p:txBody>
      </p:sp>
      <p:sp>
        <p:nvSpPr>
          <p:cNvPr id="4" name="Text 2"/>
          <p:cNvSpPr/>
          <p:nvPr/>
        </p:nvSpPr>
        <p:spPr>
          <a:xfrm>
            <a:off x="812800" y="1991320"/>
            <a:ext cx="3924300" cy="1168400"/>
          </a:xfrm>
          <a:prstGeom prst="rect">
            <a:avLst/>
          </a:prstGeom>
          <a:noFill/>
          <a:ln/>
        </p:spPr>
        <p:txBody>
          <a:bodyPr wrap="square" lIns="0" tIns="0" rIns="0" bIns="0" rtlCol="0" anchor="t">
            <a:normAutofit/>
          </a:bodyPr>
          <a:lstStyle/>
          <a:p>
            <a:pPr algn="l" indent="0" marL="0">
              <a:lnSpc>
                <a:spcPts val="9000"/>
              </a:lnSpc>
              <a:buNone/>
            </a:pPr>
            <a:r>
              <a:rPr lang="en-US" sz="9000" b="1" dirty="0">
                <a:solidFill>
                  <a:srgbClr val="57068C"/>
                </a:solidFill>
                <a:latin typeface="Frank Ruhl Libre" pitchFamily="18" charset="0"/>
                <a:ea typeface="Frank Ruhl Libre" pitchFamily="18" charset="-122"/>
                <a:cs typeface="Frank Ruhl Libre" pitchFamily="18" charset="-120"/>
              </a:rPr>
              <a:t>+10</a:t>
            </a:r>
            <a:endParaRPr lang="en-US" sz="9000" dirty="0"/>
          </a:p>
        </p:txBody>
      </p:sp>
      <p:sp>
        <p:nvSpPr>
          <p:cNvPr id="5" name="Text 3"/>
          <p:cNvSpPr/>
          <p:nvPr/>
        </p:nvSpPr>
        <p:spPr>
          <a:xfrm>
            <a:off x="812800" y="3286720"/>
            <a:ext cx="392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7068C"/>
                </a:solidFill>
                <a:latin typeface="Montserrat" pitchFamily="34" charset="0"/>
                <a:ea typeface="Montserrat" pitchFamily="34" charset="-122"/>
                <a:cs typeface="Montserrat" pitchFamily="34" charset="-120"/>
              </a:rPr>
              <a:t>Mean Likes, Positive vs Negative</a:t>
            </a:r>
            <a:endParaRPr lang="en-US" sz="1400" dirty="0"/>
          </a:p>
        </p:txBody>
      </p:sp>
      <p:sp>
        <p:nvSpPr>
          <p:cNvPr id="6" name="Text 4"/>
          <p:cNvSpPr/>
          <p:nvPr/>
        </p:nvSpPr>
        <p:spPr>
          <a:xfrm>
            <a:off x="812800" y="3687961"/>
            <a:ext cx="3924300"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33333"/>
                </a:solidFill>
                <a:latin typeface="Montserrat" pitchFamily="34" charset="0"/>
                <a:ea typeface="Montserrat" pitchFamily="34" charset="-122"/>
                <a:cs typeface="Montserrat" pitchFamily="34" charset="-120"/>
              </a:rPr>
              <a:t>46.1 vs 35.9. Smaller lifts: Instagram 45.1 vs ~42 elsewhere; evening 46.6 vs morning 39.2.</a:t>
            </a:r>
            <a:endParaRPr lang="en-US" sz="1400" dirty="0"/>
          </a:p>
        </p:txBody>
      </p:sp>
      <p:sp>
        <p:nvSpPr>
          <p:cNvPr id="7" name="Text 5"/>
          <p:cNvSpPr/>
          <p:nvPr/>
        </p:nvSpPr>
        <p:spPr>
          <a:xfrm>
            <a:off x="812800" y="4640461"/>
            <a:ext cx="3924300"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33333"/>
                </a:solidFill>
                <a:latin typeface="Montserrat" pitchFamily="34" charset="0"/>
                <a:ea typeface="Montserrat" pitchFamily="34" charset="-122"/>
                <a:cs typeface="Montserrat" pitchFamily="34" charset="-120"/>
              </a:rPr>
              <a:t>670 users for 732 posts, none with more than 3 — </a:t>
            </a:r>
            <a:r>
              <a:rPr lang="en-US" sz="1400" b="1" dirty="0">
                <a:solidFill>
                  <a:srgbClr val="333333"/>
                </a:solidFill>
                <a:latin typeface="Montserrat" pitchFamily="34" charset="0"/>
                <a:ea typeface="Montserrat" pitchFamily="34" charset="-122"/>
                <a:cs typeface="Montserrat" pitchFamily="34" charset="-120"/>
              </a:rPr>
              <a:t>no influencers</a:t>
            </a:r>
            <a:r>
              <a:rPr lang="en-US" sz="1400" dirty="0">
                <a:solidFill>
                  <a:srgbClr val="333333"/>
                </a:solidFill>
                <a:latin typeface="Montserrat" pitchFamily="34" charset="0"/>
                <a:ea typeface="Montserrat" pitchFamily="34" charset="-122"/>
                <a:cs typeface="Montserrat" pitchFamily="34" charset="-120"/>
              </a:rPr>
              <a:t> skew the numbers.</a:t>
            </a:r>
            <a:endParaRPr lang="en-US" sz="1400" dirty="0"/>
          </a:p>
        </p:txBody>
      </p:sp>
      <p:sp>
        <p:nvSpPr>
          <p:cNvPr id="8" name="Shape 6"/>
          <p:cNvSpPr/>
          <p:nvPr/>
        </p:nvSpPr>
        <p:spPr>
          <a:xfrm>
            <a:off x="5032375" y="1994495"/>
            <a:ext cx="6343650" cy="3844330"/>
          </a:xfrm>
          <a:prstGeom prst="rect">
            <a:avLst/>
          </a:prstGeom>
          <a:noFill/>
          <a:ln w="6350">
            <a:solidFill>
              <a:srgbClr val="57068C"/>
            </a:solidFill>
            <a:prstDash val="solid"/>
          </a:ln>
        </p:spPr>
      </p:sp>
      <p:pic>
        <p:nvPicPr>
          <p:cNvPr id="9" name="Image 0" descr="Box plots of Likes per sentiment group: Positive highest, Negative lowest">    </p:cNvPr>
          <p:cNvPicPr>
            <a:picLocks noChangeAspect="1"/>
          </p:cNvPicPr>
          <p:nvPr/>
        </p:nvPicPr>
        <p:blipFill>
          <a:blip r:embed="rId1"/>
          <a:srcRect l="-10759" r="-10759" t="0" b="0"/>
          <a:stretch/>
        </p:blipFill>
        <p:spPr>
          <a:xfrm>
            <a:off x="5346700" y="2392660"/>
            <a:ext cx="5715000" cy="3048000"/>
          </a:xfrm>
          <a:prstGeom prst="rect">
            <a:avLst/>
          </a:prstGeom>
        </p:spPr>
      </p:pic>
      <p:pic>
        <p:nvPicPr>
          <p:cNvPr id="10" name="Image 1" descr="NYU">    </p:cNvPr>
          <p:cNvPicPr>
            <a:picLocks noChangeAspect="1"/>
          </p:cNvPicPr>
          <p:nvPr/>
        </p:nvPicPr>
        <p:blipFill>
          <a:blip r:embed="rId2"/>
          <a:srcRect l="0" r="0" t="-276" b="-276"/>
          <a:stretch/>
        </p:blipFill>
        <p:spPr>
          <a:xfrm>
            <a:off x="812800" y="6229350"/>
            <a:ext cx="800100" cy="273050"/>
          </a:xfrm>
          <a:prstGeom prst="rect">
            <a:avLst/>
          </a:prstGeom>
        </p:spPr>
      </p:pic>
      <p:sp>
        <p:nvSpPr>
          <p:cNvPr id="11" name="Text 7"/>
          <p:cNvSpPr/>
          <p:nvPr/>
        </p:nvSpPr>
        <p:spPr>
          <a:xfrm>
            <a:off x="19050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5C5C"/>
                </a:solidFill>
                <a:latin typeface="Montserrat" pitchFamily="34" charset="0"/>
                <a:ea typeface="Montserrat" pitchFamily="34" charset="-122"/>
                <a:cs typeface="Montserrat" pitchFamily="34" charset="-120"/>
              </a:rPr>
              <a:t>All correlations with Likes are weak: positive 0.31, text length 0.20, hour 0.20</a:t>
            </a:r>
            <a:endParaRPr lang="en-US" sz="1200" dirty="0"/>
          </a:p>
        </p:txBody>
      </p:sp>
      <p:sp>
        <p:nvSpPr>
          <p:cNvPr id="12" name="Text 8"/>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7068C"/>
                </a:solidFill>
                <a:latin typeface="Montserrat" pitchFamily="34" charset="0"/>
                <a:ea typeface="Montserrat" pitchFamily="34" charset="-122"/>
                <a:cs typeface="Montserrat"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50" kern="0" dirty="0">
                <a:solidFill>
                  <a:srgbClr val="330662"/>
                </a:solidFill>
                <a:latin typeface="Montserrat" pitchFamily="34" charset="0"/>
                <a:ea typeface="Montserrat" pitchFamily="34" charset="-122"/>
                <a:cs typeface="Montserrat" pitchFamily="34" charset="-120"/>
              </a:rPr>
              <a:t>PART 05 · HASHTAGS</a:t>
            </a:r>
            <a:endParaRPr lang="en-US" sz="1200" dirty="0"/>
          </a:p>
        </p:txBody>
      </p:sp>
      <p:sp>
        <p:nvSpPr>
          <p:cNvPr id="3" name="Text 1"/>
          <p:cNvSpPr/>
          <p:nvPr>
            <p:ph type="title"/>
          </p:nvPr>
        </p:nvSpPr>
        <p:spPr>
          <a:xfrm>
            <a:off x="812800" y="11277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330662"/>
                </a:solidFill>
                <a:latin typeface="Frank Ruhl Libre" pitchFamily="18" charset="0"/>
                <a:ea typeface="Frank Ruhl Libre" pitchFamily="18" charset="-122"/>
                <a:cs typeface="Frank Ruhl Libre" pitchFamily="18" charset="-120"/>
              </a:rPr>
              <a:t>Hashtags Give the Answer Away</a:t>
            </a:r>
            <a:endParaRPr lang="en-US" sz="4400" dirty="0"/>
          </a:p>
        </p:txBody>
      </p:sp>
      <p:sp>
        <p:nvSpPr>
          <p:cNvPr id="4" name="Text 2"/>
          <p:cNvSpPr/>
          <p:nvPr/>
        </p:nvSpPr>
        <p:spPr>
          <a:xfrm>
            <a:off x="812800" y="1991320"/>
            <a:ext cx="3924300" cy="1168400"/>
          </a:xfrm>
          <a:prstGeom prst="rect">
            <a:avLst/>
          </a:prstGeom>
          <a:noFill/>
          <a:ln/>
        </p:spPr>
        <p:txBody>
          <a:bodyPr wrap="square" lIns="0" tIns="0" rIns="0" bIns="0" rtlCol="0" anchor="t">
            <a:normAutofit/>
          </a:bodyPr>
          <a:lstStyle/>
          <a:p>
            <a:pPr algn="l" indent="0" marL="0">
              <a:lnSpc>
                <a:spcPts val="9000"/>
              </a:lnSpc>
              <a:buNone/>
            </a:pPr>
            <a:r>
              <a:rPr lang="en-US" sz="9000" b="1" dirty="0">
                <a:solidFill>
                  <a:srgbClr val="330662"/>
                </a:solidFill>
                <a:latin typeface="Frank Ruhl Libre" pitchFamily="18" charset="0"/>
                <a:ea typeface="Frank Ruhl Libre" pitchFamily="18" charset="-122"/>
                <a:cs typeface="Frank Ruhl Libre" pitchFamily="18" charset="-120"/>
              </a:rPr>
              <a:t>71%</a:t>
            </a:r>
            <a:endParaRPr lang="en-US" sz="9000" dirty="0"/>
          </a:p>
        </p:txBody>
      </p:sp>
      <p:sp>
        <p:nvSpPr>
          <p:cNvPr id="5" name="Text 3"/>
          <p:cNvSpPr/>
          <p:nvPr/>
        </p:nvSpPr>
        <p:spPr>
          <a:xfrm>
            <a:off x="812800" y="3286720"/>
            <a:ext cx="392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30662"/>
                </a:solidFill>
                <a:latin typeface="Montserrat" pitchFamily="34" charset="0"/>
                <a:ea typeface="Montserrat" pitchFamily="34" charset="-122"/>
                <a:cs typeface="Montserrat" pitchFamily="34" charset="-120"/>
              </a:rPr>
              <a:t>First Hashtag Equals the Label</a:t>
            </a:r>
            <a:endParaRPr lang="en-US" sz="1400" dirty="0"/>
          </a:p>
        </p:txBody>
      </p:sp>
      <p:sp>
        <p:nvSpPr>
          <p:cNvPr id="6" name="Text 4"/>
          <p:cNvSpPr/>
          <p:nvPr/>
        </p:nvSpPr>
        <p:spPr>
          <a:xfrm>
            <a:off x="812800" y="3687961"/>
            <a:ext cx="3924300"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33333"/>
                </a:solidFill>
                <a:latin typeface="Montserrat" pitchFamily="34" charset="0"/>
                <a:ea typeface="Montserrat" pitchFamily="34" charset="-122"/>
                <a:cs typeface="Montserrat" pitchFamily="34" charset="-120"/>
              </a:rPr>
              <a:t>Every top-15 hashtag belongs 100% to one sentiment group. 975 hashtags, 773 used once.</a:t>
            </a:r>
            <a:endParaRPr lang="en-US" sz="1400" dirty="0"/>
          </a:p>
        </p:txBody>
      </p:sp>
      <p:sp>
        <p:nvSpPr>
          <p:cNvPr id="7" name="Text 5"/>
          <p:cNvSpPr/>
          <p:nvPr/>
        </p:nvSpPr>
        <p:spPr>
          <a:xfrm>
            <a:off x="812800" y="4640461"/>
            <a:ext cx="3924300" cy="5588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333333"/>
                </a:solidFill>
                <a:latin typeface="Montserrat" pitchFamily="34" charset="0"/>
                <a:ea typeface="Montserrat" pitchFamily="34" charset="-122"/>
                <a:cs typeface="Montserrat" pitchFamily="34" charset="-120"/>
              </a:rPr>
              <a:t>So:</a:t>
            </a:r>
            <a:r>
              <a:rPr lang="en-US" sz="1400" dirty="0">
                <a:solidFill>
                  <a:srgbClr val="333333"/>
                </a:solidFill>
                <a:latin typeface="Montserrat" pitchFamily="34" charset="0"/>
                <a:ea typeface="Montserrat" pitchFamily="34" charset="-122"/>
                <a:cs typeface="Montserrat" pitchFamily="34" charset="-120"/>
              </a:rPr>
              <a:t> never a model input — it would be data leakage.</a:t>
            </a:r>
            <a:endParaRPr lang="en-US" sz="1400" dirty="0"/>
          </a:p>
        </p:txBody>
      </p:sp>
      <p:sp>
        <p:nvSpPr>
          <p:cNvPr id="8" name="Shape 6"/>
          <p:cNvSpPr/>
          <p:nvPr/>
        </p:nvSpPr>
        <p:spPr>
          <a:xfrm>
            <a:off x="5032375" y="1994495"/>
            <a:ext cx="6343650" cy="3844330"/>
          </a:xfrm>
          <a:prstGeom prst="rect">
            <a:avLst/>
          </a:prstGeom>
          <a:solidFill>
            <a:srgbClr val="FFFFFF"/>
          </a:solidFill>
          <a:ln w="6350">
            <a:solidFill>
              <a:srgbClr val="330662"/>
            </a:solidFill>
            <a:prstDash val="solid"/>
          </a:ln>
        </p:spPr>
      </p:sp>
      <p:pic>
        <p:nvPicPr>
          <p:cNvPr id="9" name="Image 0" descr="Stacked bars of sentiment groups for the top 15 hashtags, each a single solid group">    </p:cNvPr>
          <p:cNvPicPr>
            <a:picLocks noChangeAspect="1"/>
          </p:cNvPicPr>
          <p:nvPr/>
        </p:nvPicPr>
        <p:blipFill>
          <a:blip r:embed="rId1"/>
          <a:srcRect l="-135" r="-135" t="0" b="0"/>
          <a:stretch/>
        </p:blipFill>
        <p:spPr>
          <a:xfrm>
            <a:off x="5346700" y="2392660"/>
            <a:ext cx="5715000" cy="3048000"/>
          </a:xfrm>
          <a:prstGeom prst="rect">
            <a:avLst/>
          </a:prstGeom>
        </p:spPr>
      </p:pic>
      <p:pic>
        <p:nvPicPr>
          <p:cNvPr id="10" name="Image 1" descr="NYU">    </p:cNvPr>
          <p:cNvPicPr>
            <a:picLocks noChangeAspect="1"/>
          </p:cNvPicPr>
          <p:nvPr/>
        </p:nvPicPr>
        <p:blipFill>
          <a:blip r:embed="rId2"/>
          <a:srcRect l="0" r="0" t="-276" b="-276"/>
          <a:stretch/>
        </p:blipFill>
        <p:spPr>
          <a:xfrm>
            <a:off x="812800" y="6229350"/>
            <a:ext cx="800100" cy="273050"/>
          </a:xfrm>
          <a:prstGeom prst="rect">
            <a:avLst/>
          </a:prstGeom>
        </p:spPr>
      </p:pic>
      <p:sp>
        <p:nvSpPr>
          <p:cNvPr id="11" name="Text 7"/>
          <p:cNvSpPr/>
          <p:nvPr/>
        </p:nvSpPr>
        <p:spPr>
          <a:xfrm>
            <a:off x="19050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5C5C"/>
                </a:solidFill>
                <a:latin typeface="Montserrat" pitchFamily="34" charset="0"/>
                <a:ea typeface="Montserrat" pitchFamily="34" charset="-122"/>
                <a:cs typeface="Montserrat" pitchFamily="34" charset="-120"/>
              </a:rPr>
              <a:t>Top tags: #serenity, #gratitude, #excitement — the labels themselves</a:t>
            </a:r>
            <a:endParaRPr lang="en-US" sz="1200" dirty="0"/>
          </a:p>
        </p:txBody>
      </p:sp>
      <p:sp>
        <p:nvSpPr>
          <p:cNvPr id="12" name="Text 8"/>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330662"/>
                </a:solidFill>
                <a:latin typeface="Montserrat" pitchFamily="34" charset="0"/>
                <a:ea typeface="Montserrat" pitchFamily="34" charset="-122"/>
                <a:cs typeface="Montserrat"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50" kern="0" dirty="0">
                <a:solidFill>
                  <a:srgbClr val="57068C"/>
                </a:solidFill>
                <a:latin typeface="Montserrat" pitchFamily="34" charset="0"/>
                <a:ea typeface="Montserrat" pitchFamily="34" charset="-122"/>
                <a:cs typeface="Montserrat" pitchFamily="34" charset="-120"/>
              </a:rPr>
              <a:t>PART 06 · GEOGRAPHY</a:t>
            </a:r>
            <a:endParaRPr lang="en-US" sz="1200" dirty="0"/>
          </a:p>
        </p:txBody>
      </p:sp>
      <p:sp>
        <p:nvSpPr>
          <p:cNvPr id="3" name="Text 1"/>
          <p:cNvSpPr/>
          <p:nvPr>
            <p:ph type="title"/>
          </p:nvPr>
        </p:nvSpPr>
        <p:spPr>
          <a:xfrm>
            <a:off x="812800" y="11277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57068C"/>
                </a:solidFill>
                <a:latin typeface="Frank Ruhl Libre" pitchFamily="18" charset="0"/>
                <a:ea typeface="Frank Ruhl Libre" pitchFamily="18" charset="-122"/>
                <a:cs typeface="Frank Ruhl Libre" pitchFamily="18" charset="-120"/>
              </a:rPr>
              <a:t>Mood Varies by Country, Not Platform</a:t>
            </a:r>
            <a:endParaRPr lang="en-US" sz="4400" dirty="0"/>
          </a:p>
        </p:txBody>
      </p:sp>
      <p:sp>
        <p:nvSpPr>
          <p:cNvPr id="4" name="Shape 2"/>
          <p:cNvSpPr/>
          <p:nvPr/>
        </p:nvSpPr>
        <p:spPr>
          <a:xfrm>
            <a:off x="815975" y="1943695"/>
            <a:ext cx="10560050" cy="2368550"/>
          </a:xfrm>
          <a:prstGeom prst="rect">
            <a:avLst/>
          </a:prstGeom>
          <a:noFill/>
          <a:ln w="6350">
            <a:solidFill>
              <a:srgbClr val="57068C"/>
            </a:solidFill>
            <a:prstDash val="solid"/>
          </a:ln>
        </p:spPr>
      </p:sp>
      <p:pic>
        <p:nvPicPr>
          <p:cNvPr id="5" name="Image 0" descr="Left: sentiment groups per country, USA most positive, India and Australia least. Right: mean Likes per country, Other highest">    </p:cNvPr>
          <p:cNvPicPr>
            <a:picLocks noChangeAspect="1"/>
          </p:cNvPicPr>
          <p:nvPr/>
        </p:nvPicPr>
        <p:blipFill>
          <a:blip r:embed="rId1"/>
          <a:srcRect l="-3261" r="-3261" t="0" b="0"/>
          <a:stretch/>
        </p:blipFill>
        <p:spPr>
          <a:xfrm>
            <a:off x="1651000" y="2048470"/>
            <a:ext cx="8890000" cy="2159000"/>
          </a:xfrm>
          <a:prstGeom prst="rect">
            <a:avLst/>
          </a:prstGeom>
        </p:spPr>
      </p:pic>
      <p:sp>
        <p:nvSpPr>
          <p:cNvPr id="6" name="Shape 3"/>
          <p:cNvSpPr/>
          <p:nvPr/>
        </p:nvSpPr>
        <p:spPr>
          <a:xfrm>
            <a:off x="812800" y="4575770"/>
            <a:ext cx="3318966" cy="0"/>
          </a:xfrm>
          <a:prstGeom prst="line">
            <a:avLst/>
          </a:prstGeom>
          <a:noFill/>
          <a:ln w="12700">
            <a:solidFill>
              <a:srgbClr val="57068C"/>
            </a:solidFill>
            <a:prstDash val="solid"/>
          </a:ln>
        </p:spPr>
      </p:sp>
      <p:sp>
        <p:nvSpPr>
          <p:cNvPr id="7" name="Text 4"/>
          <p:cNvSpPr/>
          <p:nvPr/>
        </p:nvSpPr>
        <p:spPr>
          <a:xfrm>
            <a:off x="812800" y="4709120"/>
            <a:ext cx="341853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57068C"/>
                </a:solidFill>
                <a:latin typeface="Frank Ruhl Libre" pitchFamily="18" charset="0"/>
                <a:ea typeface="Frank Ruhl Libre" pitchFamily="18" charset="-122"/>
                <a:cs typeface="Frank Ruhl Libre" pitchFamily="18" charset="-120"/>
              </a:rPr>
              <a:t>USA 70%</a:t>
            </a:r>
            <a:endParaRPr lang="en-US" sz="3200" dirty="0"/>
          </a:p>
        </p:txBody>
      </p:sp>
      <p:sp>
        <p:nvSpPr>
          <p:cNvPr id="8" name="Text 5"/>
          <p:cNvSpPr/>
          <p:nvPr/>
        </p:nvSpPr>
        <p:spPr>
          <a:xfrm>
            <a:off x="812800" y="5166320"/>
            <a:ext cx="34185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3333"/>
                </a:solidFill>
                <a:latin typeface="Montserrat" pitchFamily="34" charset="0"/>
                <a:ea typeface="Montserrat" pitchFamily="34" charset="-122"/>
                <a:cs typeface="Montserrat" pitchFamily="34" charset="-120"/>
              </a:rPr>
              <a:t>Positive — the most upbeat country</a:t>
            </a:r>
            <a:endParaRPr lang="en-US" sz="1200" dirty="0"/>
          </a:p>
        </p:txBody>
      </p:sp>
      <p:sp>
        <p:nvSpPr>
          <p:cNvPr id="9" name="Shape 6"/>
          <p:cNvSpPr/>
          <p:nvPr/>
        </p:nvSpPr>
        <p:spPr>
          <a:xfrm>
            <a:off x="4436566" y="4575770"/>
            <a:ext cx="3318966" cy="0"/>
          </a:xfrm>
          <a:prstGeom prst="line">
            <a:avLst/>
          </a:prstGeom>
          <a:noFill/>
          <a:ln w="12700">
            <a:solidFill>
              <a:srgbClr val="57068C"/>
            </a:solidFill>
            <a:prstDash val="solid"/>
          </a:ln>
        </p:spPr>
      </p:sp>
      <p:sp>
        <p:nvSpPr>
          <p:cNvPr id="10" name="Text 7"/>
          <p:cNvSpPr/>
          <p:nvPr/>
        </p:nvSpPr>
        <p:spPr>
          <a:xfrm>
            <a:off x="4436566" y="4709120"/>
            <a:ext cx="341853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57068C"/>
                </a:solidFill>
                <a:latin typeface="Frank Ruhl Libre" pitchFamily="18" charset="0"/>
                <a:ea typeface="Frank Ruhl Libre" pitchFamily="18" charset="-122"/>
                <a:cs typeface="Frank Ruhl Libre" pitchFamily="18" charset="-120"/>
              </a:rPr>
              <a:t>India 59%</a:t>
            </a:r>
            <a:endParaRPr lang="en-US" sz="3200" dirty="0"/>
          </a:p>
        </p:txBody>
      </p:sp>
      <p:sp>
        <p:nvSpPr>
          <p:cNvPr id="11" name="Text 8"/>
          <p:cNvSpPr/>
          <p:nvPr/>
        </p:nvSpPr>
        <p:spPr>
          <a:xfrm>
            <a:off x="4436566" y="5166320"/>
            <a:ext cx="34185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3333"/>
                </a:solidFill>
                <a:latin typeface="Montserrat" pitchFamily="34" charset="0"/>
                <a:ea typeface="Montserrat" pitchFamily="34" charset="-122"/>
                <a:cs typeface="Montserrat" pitchFamily="34" charset="-120"/>
              </a:rPr>
              <a:t>Positive; India and Australia ~31–33% Negative</a:t>
            </a:r>
            <a:endParaRPr lang="en-US" sz="1200" dirty="0"/>
          </a:p>
        </p:txBody>
      </p:sp>
      <p:sp>
        <p:nvSpPr>
          <p:cNvPr id="12" name="Shape 9"/>
          <p:cNvSpPr/>
          <p:nvPr/>
        </p:nvSpPr>
        <p:spPr>
          <a:xfrm>
            <a:off x="8060333" y="4575770"/>
            <a:ext cx="3318966" cy="0"/>
          </a:xfrm>
          <a:prstGeom prst="line">
            <a:avLst/>
          </a:prstGeom>
          <a:noFill/>
          <a:ln w="12700">
            <a:solidFill>
              <a:srgbClr val="57068C"/>
            </a:solidFill>
            <a:prstDash val="solid"/>
          </a:ln>
        </p:spPr>
      </p:sp>
      <p:sp>
        <p:nvSpPr>
          <p:cNvPr id="13" name="Text 10"/>
          <p:cNvSpPr/>
          <p:nvPr/>
        </p:nvSpPr>
        <p:spPr>
          <a:xfrm>
            <a:off x="8060333" y="4709120"/>
            <a:ext cx="341853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57068C"/>
                </a:solidFill>
                <a:latin typeface="Frank Ruhl Libre" pitchFamily="18" charset="0"/>
                <a:ea typeface="Frank Ruhl Libre" pitchFamily="18" charset="-122"/>
                <a:cs typeface="Frank Ruhl Libre" pitchFamily="18" charset="-120"/>
              </a:rPr>
              <a:t>~51 Likes</a:t>
            </a:r>
            <a:endParaRPr lang="en-US" sz="3200" dirty="0"/>
          </a:p>
        </p:txBody>
      </p:sp>
      <p:sp>
        <p:nvSpPr>
          <p:cNvPr id="14" name="Text 11"/>
          <p:cNvSpPr/>
          <p:nvPr/>
        </p:nvSpPr>
        <p:spPr>
          <a:xfrm>
            <a:off x="8060333" y="5166320"/>
            <a:ext cx="34185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3333"/>
                </a:solidFill>
                <a:latin typeface="Montserrat" pitchFamily="34" charset="0"/>
                <a:ea typeface="Montserrat" pitchFamily="34" charset="-122"/>
                <a:cs typeface="Montserrat" pitchFamily="34" charset="-120"/>
              </a:rPr>
              <a:t>for smaller countries vs 38–44 in the top 5</a:t>
            </a:r>
            <a:endParaRPr lang="en-US" sz="1200" dirty="0"/>
          </a:p>
        </p:txBody>
      </p:sp>
      <p:pic>
        <p:nvPicPr>
          <p:cNvPr id="15" name="Image 1" descr="NYU">    </p:cNvPr>
          <p:cNvPicPr>
            <a:picLocks noChangeAspect="1"/>
          </p:cNvPicPr>
          <p:nvPr/>
        </p:nvPicPr>
        <p:blipFill>
          <a:blip r:embed="rId2"/>
          <a:srcRect l="0" r="0" t="-276" b="-276"/>
          <a:stretch/>
        </p:blipFill>
        <p:spPr>
          <a:xfrm>
            <a:off x="812800" y="6229350"/>
            <a:ext cx="800100" cy="273050"/>
          </a:xfrm>
          <a:prstGeom prst="rect">
            <a:avLst/>
          </a:prstGeom>
        </p:spPr>
      </p:pic>
      <p:sp>
        <p:nvSpPr>
          <p:cNvPr id="16" name="Text 12"/>
          <p:cNvSpPr/>
          <p:nvPr/>
        </p:nvSpPr>
        <p:spPr>
          <a:xfrm>
            <a:off x="19050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5C5C"/>
                </a:solidFill>
                <a:latin typeface="Montserrat" pitchFamily="34" charset="0"/>
                <a:ea typeface="Montserrat" pitchFamily="34" charset="-122"/>
                <a:cs typeface="Montserrat" pitchFamily="34" charset="-120"/>
              </a:rPr>
              <a:t>Non-top-5 countries grouped as “Other”; platform × country cells hold only 19–72 posts</a:t>
            </a:r>
            <a:endParaRPr lang="en-US" sz="1200" dirty="0"/>
          </a:p>
        </p:txBody>
      </p:sp>
      <p:sp>
        <p:nvSpPr>
          <p:cNvPr id="17" name="Text 13"/>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7068C"/>
                </a:solidFill>
                <a:latin typeface="Montserrat" pitchFamily="34" charset="0"/>
                <a:ea typeface="Montserrat" pitchFamily="34" charset="-122"/>
                <a:cs typeface="Montserrat"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50" kern="0" dirty="0">
                <a:solidFill>
                  <a:srgbClr val="57068C"/>
                </a:solidFill>
                <a:latin typeface="Montserrat" pitchFamily="34" charset="0"/>
                <a:ea typeface="Montserrat" pitchFamily="34" charset="-122"/>
                <a:cs typeface="Montserrat" pitchFamily="34" charset="-120"/>
              </a:rPr>
              <a:t>PART 07 · TAKEAWAYS</a:t>
            </a:r>
            <a:endParaRPr lang="en-US" sz="1200" dirty="0"/>
          </a:p>
        </p:txBody>
      </p:sp>
      <p:sp>
        <p:nvSpPr>
          <p:cNvPr id="3" name="Text 1"/>
          <p:cNvSpPr/>
          <p:nvPr>
            <p:ph type="title"/>
          </p:nvPr>
        </p:nvSpPr>
        <p:spPr>
          <a:xfrm>
            <a:off x="812800" y="11277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57068C"/>
                </a:solidFill>
                <a:latin typeface="Frank Ruhl Libre" pitchFamily="18" charset="0"/>
                <a:ea typeface="Frank Ruhl Libre" pitchFamily="18" charset="-122"/>
                <a:cs typeface="Frank Ruhl Libre" pitchFamily="18" charset="-120"/>
              </a:rPr>
              <a:t>What It Means for a Model</a:t>
            </a:r>
            <a:endParaRPr lang="en-US" sz="4400" dirty="0"/>
          </a:p>
        </p:txBody>
      </p:sp>
      <p:sp>
        <p:nvSpPr>
          <p:cNvPr id="4" name="Text 2"/>
          <p:cNvSpPr/>
          <p:nvPr/>
        </p:nvSpPr>
        <p:spPr>
          <a:xfrm>
            <a:off x="812800" y="1991320"/>
            <a:ext cx="512775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7068C"/>
                </a:solidFill>
                <a:latin typeface="Montserrat" pitchFamily="34" charset="0"/>
                <a:ea typeface="Montserrat" pitchFamily="34" charset="-122"/>
                <a:cs typeface="Montserrat" pitchFamily="34" charset="-120"/>
              </a:rPr>
              <a:t>Findings</a:t>
            </a:r>
            <a:endParaRPr lang="en-US" sz="1600" dirty="0"/>
          </a:p>
        </p:txBody>
      </p:sp>
      <p:sp>
        <p:nvSpPr>
          <p:cNvPr id="5" name="Text 3"/>
          <p:cNvSpPr/>
          <p:nvPr/>
        </p:nvSpPr>
        <p:spPr>
          <a:xfrm>
            <a:off x="812800" y="2387501"/>
            <a:ext cx="5127752" cy="5588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333333"/>
                </a:solidFill>
                <a:latin typeface="Montserrat" pitchFamily="34" charset="0"/>
                <a:ea typeface="Montserrat" pitchFamily="34" charset="-122"/>
                <a:cs typeface="Montserrat" pitchFamily="34" charset="-120"/>
              </a:rPr>
              <a:t>01.</a:t>
            </a:r>
            <a:r>
              <a:rPr lang="en-US" sz="1400" dirty="0">
                <a:solidFill>
                  <a:srgbClr val="333333"/>
                </a:solidFill>
                <a:latin typeface="Montserrat" pitchFamily="34" charset="0"/>
                <a:ea typeface="Montserrat" pitchFamily="34" charset="-122"/>
                <a:cs typeface="Montserrat" pitchFamily="34" charset="-120"/>
              </a:rPr>
              <a:t> 65% Positive, identical across platforms and times of day.</a:t>
            </a:r>
            <a:endParaRPr lang="en-US" sz="1400" dirty="0"/>
          </a:p>
        </p:txBody>
      </p:sp>
      <p:sp>
        <p:nvSpPr>
          <p:cNvPr id="6" name="Text 4"/>
          <p:cNvSpPr/>
          <p:nvPr/>
        </p:nvSpPr>
        <p:spPr>
          <a:xfrm>
            <a:off x="812800" y="3073301"/>
            <a:ext cx="5127752"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333333"/>
                </a:solidFill>
                <a:latin typeface="Montserrat" pitchFamily="34" charset="0"/>
                <a:ea typeface="Montserrat" pitchFamily="34" charset="-122"/>
                <a:cs typeface="Montserrat" pitchFamily="34" charset="-120"/>
              </a:rPr>
              <a:t>02.</a:t>
            </a:r>
            <a:r>
              <a:rPr lang="en-US" sz="1400" dirty="0">
                <a:solidFill>
                  <a:srgbClr val="333333"/>
                </a:solidFill>
                <a:latin typeface="Montserrat" pitchFamily="34" charset="0"/>
                <a:ea typeface="Montserrat" pitchFamily="34" charset="-122"/>
                <a:cs typeface="Montserrat" pitchFamily="34" charset="-120"/>
              </a:rPr>
              <a:t> USA most positive; India and Australia least.</a:t>
            </a:r>
            <a:endParaRPr lang="en-US" sz="1400" dirty="0"/>
          </a:p>
        </p:txBody>
      </p:sp>
      <p:sp>
        <p:nvSpPr>
          <p:cNvPr id="7" name="Text 5"/>
          <p:cNvSpPr/>
          <p:nvPr/>
        </p:nvSpPr>
        <p:spPr>
          <a:xfrm>
            <a:off x="812800" y="3492401"/>
            <a:ext cx="5127752" cy="5588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333333"/>
                </a:solidFill>
                <a:latin typeface="Montserrat" pitchFamily="34" charset="0"/>
                <a:ea typeface="Montserrat" pitchFamily="34" charset="-122"/>
                <a:cs typeface="Montserrat" pitchFamily="34" charset="-120"/>
              </a:rPr>
              <a:t>03.</a:t>
            </a:r>
            <a:r>
              <a:rPr lang="en-US" sz="1400" dirty="0">
                <a:solidFill>
                  <a:srgbClr val="333333"/>
                </a:solidFill>
                <a:latin typeface="Montserrat" pitchFamily="34" charset="0"/>
                <a:ea typeface="Montserrat" pitchFamily="34" charset="-122"/>
                <a:cs typeface="Montserrat" pitchFamily="34" charset="-120"/>
              </a:rPr>
              <a:t> Positive posts get ~10 more Likes; evening and Instagram slightly more.</a:t>
            </a:r>
            <a:endParaRPr lang="en-US" sz="1400" dirty="0"/>
          </a:p>
        </p:txBody>
      </p:sp>
      <p:sp>
        <p:nvSpPr>
          <p:cNvPr id="8" name="Text 6"/>
          <p:cNvSpPr/>
          <p:nvPr/>
        </p:nvSpPr>
        <p:spPr>
          <a:xfrm>
            <a:off x="812800" y="4178201"/>
            <a:ext cx="5127752" cy="5588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333333"/>
                </a:solidFill>
                <a:latin typeface="Montserrat" pitchFamily="34" charset="0"/>
                <a:ea typeface="Montserrat" pitchFamily="34" charset="-122"/>
                <a:cs typeface="Montserrat" pitchFamily="34" charset="-120"/>
              </a:rPr>
              <a:t>04.</a:t>
            </a:r>
            <a:r>
              <a:rPr lang="en-US" sz="1400" dirty="0">
                <a:solidFill>
                  <a:srgbClr val="333333"/>
                </a:solidFill>
                <a:latin typeface="Montserrat" pitchFamily="34" charset="0"/>
                <a:ea typeface="Montserrat" pitchFamily="34" charset="-122"/>
                <a:cs typeface="Montserrat" pitchFamily="34" charset="-120"/>
              </a:rPr>
              <a:t> Timestamps are local; Sep/Oct 2023 are batch anomalies.</a:t>
            </a:r>
            <a:endParaRPr lang="en-US" sz="1400" dirty="0"/>
          </a:p>
        </p:txBody>
      </p:sp>
      <p:sp>
        <p:nvSpPr>
          <p:cNvPr id="9" name="Text 7"/>
          <p:cNvSpPr/>
          <p:nvPr/>
        </p:nvSpPr>
        <p:spPr>
          <a:xfrm>
            <a:off x="6400800" y="1991320"/>
            <a:ext cx="512775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7068C"/>
                </a:solidFill>
                <a:latin typeface="Montserrat" pitchFamily="34" charset="0"/>
                <a:ea typeface="Montserrat" pitchFamily="34" charset="-122"/>
                <a:cs typeface="Montserrat" pitchFamily="34" charset="-120"/>
              </a:rPr>
              <a:t>For Modeling</a:t>
            </a:r>
            <a:endParaRPr lang="en-US" sz="1600" dirty="0"/>
          </a:p>
        </p:txBody>
      </p:sp>
      <p:sp>
        <p:nvSpPr>
          <p:cNvPr id="10" name="Text 8"/>
          <p:cNvSpPr/>
          <p:nvPr/>
        </p:nvSpPr>
        <p:spPr>
          <a:xfrm>
            <a:off x="6400800" y="2387501"/>
            <a:ext cx="5127752"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333333"/>
                </a:solidFill>
                <a:latin typeface="Montserrat" pitchFamily="34" charset="0"/>
                <a:ea typeface="Montserrat" pitchFamily="34" charset="-122"/>
                <a:cs typeface="Montserrat" pitchFamily="34" charset="-120"/>
              </a:rPr>
              <a:t>01.</a:t>
            </a:r>
            <a:r>
              <a:rPr lang="en-US" sz="1400" dirty="0">
                <a:solidFill>
                  <a:srgbClr val="333333"/>
                </a:solidFill>
                <a:latin typeface="Montserrat" pitchFamily="34" charset="0"/>
                <a:ea typeface="Montserrat" pitchFamily="34" charset="-122"/>
                <a:cs typeface="Montserrat" pitchFamily="34" charset="-120"/>
              </a:rPr>
              <a:t> Drop hashtags as input — they leak the label.</a:t>
            </a:r>
            <a:endParaRPr lang="en-US" sz="1400" dirty="0"/>
          </a:p>
        </p:txBody>
      </p:sp>
      <p:sp>
        <p:nvSpPr>
          <p:cNvPr id="11" name="Text 9"/>
          <p:cNvSpPr/>
          <p:nvPr/>
        </p:nvSpPr>
        <p:spPr>
          <a:xfrm>
            <a:off x="6400800" y="2806601"/>
            <a:ext cx="5127752"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333333"/>
                </a:solidFill>
                <a:latin typeface="Montserrat" pitchFamily="34" charset="0"/>
                <a:ea typeface="Montserrat" pitchFamily="34" charset="-122"/>
                <a:cs typeface="Montserrat" pitchFamily="34" charset="-120"/>
              </a:rPr>
              <a:t>02.</a:t>
            </a:r>
            <a:r>
              <a:rPr lang="en-US" sz="1400" dirty="0">
                <a:solidFill>
                  <a:srgbClr val="333333"/>
                </a:solidFill>
                <a:latin typeface="Montserrat" pitchFamily="34" charset="0"/>
                <a:ea typeface="Montserrat" pitchFamily="34" charset="-122"/>
                <a:cs typeface="Montserrat" pitchFamily="34" charset="-120"/>
              </a:rPr>
              <a:t> Handle class imbalance (65 / 27 / 5 / 4).</a:t>
            </a:r>
            <a:endParaRPr lang="en-US" sz="1400" dirty="0"/>
          </a:p>
        </p:txBody>
      </p:sp>
      <p:sp>
        <p:nvSpPr>
          <p:cNvPr id="12" name="Text 10"/>
          <p:cNvSpPr/>
          <p:nvPr/>
        </p:nvSpPr>
        <p:spPr>
          <a:xfrm>
            <a:off x="6400800" y="3225701"/>
            <a:ext cx="5127752"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333333"/>
                </a:solidFill>
                <a:latin typeface="Montserrat" pitchFamily="34" charset="0"/>
                <a:ea typeface="Montserrat" pitchFamily="34" charset="-122"/>
                <a:cs typeface="Montserrat" pitchFamily="34" charset="-120"/>
              </a:rPr>
              <a:t>03.</a:t>
            </a:r>
            <a:r>
              <a:rPr lang="en-US" sz="1400" dirty="0">
                <a:solidFill>
                  <a:srgbClr val="333333"/>
                </a:solidFill>
                <a:latin typeface="Montserrat" pitchFamily="34" charset="0"/>
                <a:ea typeface="Montserrat" pitchFamily="34" charset="-122"/>
                <a:cs typeface="Montserrat" pitchFamily="34" charset="-120"/>
              </a:rPr>
              <a:t> Use Likes only; Retweets are redundant.</a:t>
            </a:r>
            <a:endParaRPr lang="en-US" sz="1400" dirty="0"/>
          </a:p>
        </p:txBody>
      </p:sp>
      <p:sp>
        <p:nvSpPr>
          <p:cNvPr id="13" name="Text 11"/>
          <p:cNvSpPr/>
          <p:nvPr/>
        </p:nvSpPr>
        <p:spPr>
          <a:xfrm>
            <a:off x="6400800" y="3644801"/>
            <a:ext cx="5127752" cy="5588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333333"/>
                </a:solidFill>
                <a:latin typeface="Montserrat" pitchFamily="34" charset="0"/>
                <a:ea typeface="Montserrat" pitchFamily="34" charset="-122"/>
                <a:cs typeface="Montserrat" pitchFamily="34" charset="-120"/>
              </a:rPr>
              <a:t>04.</a:t>
            </a:r>
            <a:r>
              <a:rPr lang="en-US" sz="1400" dirty="0">
                <a:solidFill>
                  <a:srgbClr val="333333"/>
                </a:solidFill>
                <a:latin typeface="Montserrat" pitchFamily="34" charset="0"/>
                <a:ea typeface="Montserrat" pitchFamily="34" charset="-122"/>
                <a:cs typeface="Montserrat" pitchFamily="34" charset="-120"/>
              </a:rPr>
              <a:t> Expect weak signals: no single feature explains Likes.</a:t>
            </a:r>
            <a:endParaRPr lang="en-US" sz="1400" dirty="0"/>
          </a:p>
        </p:txBody>
      </p:sp>
      <p:pic>
        <p:nvPicPr>
          <p:cNvPr id="14" name="Image 0" descr="NYU">    </p:cNvPr>
          <p:cNvPicPr>
            <a:picLocks noChangeAspect="1"/>
          </p:cNvPicPr>
          <p:nvPr/>
        </p:nvPicPr>
        <p:blipFill>
          <a:blip r:embed="rId1"/>
          <a:srcRect l="0" r="0" t="-276" b="-276"/>
          <a:stretch/>
        </p:blipFill>
        <p:spPr>
          <a:xfrm>
            <a:off x="812800" y="6229350"/>
            <a:ext cx="800100" cy="273050"/>
          </a:xfrm>
          <a:prstGeom prst="rect">
            <a:avLst/>
          </a:prstGeom>
        </p:spPr>
      </p:pic>
      <p:sp>
        <p:nvSpPr>
          <p:cNvPr id="15" name="Text 12"/>
          <p:cNvSpPr/>
          <p:nvPr/>
        </p:nvSpPr>
        <p:spPr>
          <a:xfrm>
            <a:off x="19050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5C5C"/>
                </a:solidFill>
                <a:latin typeface="Montserrat" pitchFamily="34" charset="0"/>
                <a:ea typeface="Montserrat" pitchFamily="34" charset="-122"/>
                <a:cs typeface="Montserrat" pitchFamily="34" charset="-120"/>
              </a:rPr>
              <a:t>Thank you — questions?</a:t>
            </a:r>
            <a:endParaRPr lang="en-US" sz="1200" dirty="0"/>
          </a:p>
        </p:txBody>
      </p:sp>
      <p:sp>
        <p:nvSpPr>
          <p:cNvPr id="16" name="Text 13"/>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7068C"/>
                </a:solidFill>
                <a:latin typeface="Montserrat" pitchFamily="34" charset="0"/>
                <a:ea typeface="Montserrat" pitchFamily="34" charset="-122"/>
                <a:cs typeface="Montserrat" pitchFamily="34" charset="-120"/>
              </a:rPr>
              <a:t>08</a:t>
            </a:r>
            <a:endParaRPr lang="en-US" sz="1200" dirty="0"/>
          </a:p>
        </p:txBody>
      </p:sp>
    </p:spTree>
  </p:cSld>
  <p:clrMapOvr>
    <a:masterClrMapping/>
  </p:clrMapOvr>
</p:sld>
</file>

<file path=ppt/theme/theme1.xml><?xml version="1.0" encoding="utf-8"?>
<a:theme xmlns:a="http://schemas.openxmlformats.org/drawingml/2006/main" name="Social Media Sentiment Analysis">
  <a:themeElements>
    <a:clrScheme name="Social Media Sentiment Analysis">
      <a:dk1>
        <a:srgbClr val="57068C"/>
      </a:dk1>
      <a:lt1>
        <a:srgbClr val="FFFFFF"/>
      </a:lt1>
      <a:dk2>
        <a:srgbClr val="8144A9"/>
      </a:dk2>
      <a:lt2>
        <a:srgbClr val="EEE6F4"/>
      </a:lt2>
      <a:accent1>
        <a:srgbClr val="330662"/>
      </a:accent1>
      <a:accent2>
        <a:srgbClr val="333333"/>
      </a:accent2>
      <a:accent3>
        <a:srgbClr val="5C5C5C"/>
      </a:accent3>
      <a:accent4>
        <a:srgbClr val="9AA0A6"/>
      </a:accent4>
      <a:accent5>
        <a:srgbClr val="9A6ABA"/>
      </a:accent5>
      <a:accent6>
        <a:srgbClr val="B38FCB"/>
      </a:accent6>
      <a:hlink>
        <a:srgbClr val="0563C1"/>
      </a:hlink>
      <a:folHlink>
        <a:srgbClr val="954F72"/>
      </a:folHlink>
    </a:clrScheme>
    <a:fontScheme name="Social Media Sentiment Analysis">
      <a:majorFont>
        <a:latin typeface="Frank Ruhl Libr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Sentiment Analysis</dc:title>
  <dc:subject/>
  <dc:creator/>
  <cp:lastModifiedBy/>
  <cp:revision>1</cp:revision>
  <dcterms:created xsi:type="dcterms:W3CDTF">2026-10-28T16:07:48Z</dcterms:created>
  <dcterms:modified xsi:type="dcterms:W3CDTF">2026-10-28T16:07:48Z</dcterms:modified>
</cp:coreProperties>
</file>